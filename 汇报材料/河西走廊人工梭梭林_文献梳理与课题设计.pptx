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题目：河西走廊人工梭梭林保存成效及衰退风险的分层评价与分类管护。本稿按问题、思路、评价体系、方法、结果组织。重要边界：区域直接文献尚未完成数据库检索与全文核验；跨物种参考文献根据已有知识整理，书目信息及具体结论需回到原文复核。不能据此宣称河西走廊研究空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“成效”需事先约定：如果评价防风固沙功能，就需直接测量或承认采用代理指标。当前保存比例不能等同于现存植株健康程度。硕士课题不必解释所有生理机制，但需要把观测、解释和预测的证据层次说清。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这里列的是踏查候选区域，不是已核实样地清单。先建立总体地块名录，再依据立地、林龄及经营史选点。不能从少量便利样地推算整个城市的保存状况，更不能从几个地块直接外推河西走廊退化总面积。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 Crossref、OpenAlex、期刊及 DOI 网站读取均受网络策略限制，无法完成学术检索。已访问的 GitHub 数据仓库仅证明存在一个梭梭抗旱实验题名/数据线索，不是区域退化文献的替代。本稿不沿用用户已撤回的论文示例或其中数值。</a:t>
            </a:r>
          </a:p>
          <a:p/>
          <a:p>
            <a:r>
              <a:t>来源/状态：检索状态说明；详见配套表“检索与核验”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层级A决定区域研究进展能否下结论，层级B用于物种相关假说，层级C用于方法借鉴，层级D用于分析规范。不能因为层级A没有检索完，就用全球森林文献来证明河西走廊研究不足。上述其他植物是建议扩展检索的对象，而不是本次已系统检索的结果。</a:t>
            </a:r>
          </a:p>
          <a:p/>
          <a:p>
            <a:r>
              <a:t>来源/状态：综述组织方案；跨物种参考 R1–R10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这些是成熟的机制及研究设计思路，并不构成梭梭区域结果。全部参考资料在本次未能访问出版者或全文，概括保持在基础主题层面，不报告未核对的效应量、样本量或死亡阈值。</a:t>
            </a:r>
          </a:p>
          <a:p/>
          <a:p>
            <a:r>
              <a:t>来源/状态：R1–R7；既有文献主题整理，本次未复核全文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这是本报告提出的阅读评价尺，不是对尚未读取的区域文献作出的分级结论。评价时同时记录林分独立重复、样本选择、混杂控制、验证集独立性和不确定性。复杂模型不能补救无重复或无时间标签的设计。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应表述为“拟开展的改进”，是否超越已有河西走廊梭梭研究，必须完成直接文献的系统检索后再定。若已有研究完成前三项，可进一步聚焦外区验证、低成本指标的独立预测价值，或一个有对照的管护试验。不得承诺“首次”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避免把这四项混为一个随意加权总分。政府需要看见具体短板：数量下降、活力下降、更新失败或功能不足，可能对应不同管护措施。风险必须有明确的时间窗口与结局定义。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存比例=现存同批活株数/初植株数。若发生补植，应按造林批次重建分母。基线已有死亡不能用于验证未来死亡预测。个体健康标签应主要来自症状和生长，水分与盐分作为解释变量保留在标签外，避免循环论证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生态功能是否列为主线，应根据仪器和人力确定。没有直接功能测量，论文题目和结论要使用“功能相关指标”或“防护状态代理”。地下水资料可作为环境背景，不能无证据地推断梭梭直接依赖地下水。</a:t>
            </a:r>
          </a:p>
          <a:p/>
          <a:p>
            <a:r>
              <a:t>来源/状态：研究设计建议；机制框架参考 R2、R6、R10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预设20%、50%等等级分界。阈值需参考经过核实的规范/文献，并在预调查中检验可操作性。死亡需要明确无存活组织的判定和必要复查。若使用PCA或熵权，必须解释权重含义；统计权重不自动具有生态意义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若有意增加明显衰退样地，不能直接把样本中退化比例当作区域总体比例，必须使用设计权重或分别报告。便利抽样只能描述样本地块。季内复测可以看生长及短期变化，但不能自动证明持续退化或跨年死亡风险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示样本量不是功效计算结果。只有27个林分，不宜同时拟合大量林分层变量或复杂机器学习模型。若死亡/恶化事件很少，应简化目标或延长随访，优先报告状态变化与置信区间。不能把540株当成540个相互独立的林分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当前密度可能因先前死亡而降低，直接把它用于解释当前退化会出现反向因果。初植密度和邻域竞争也需明确时间来源。林龄若和地区/生境完全重合，统计模型无法凭空拆开影响；应改进抽样或承认证据限制。</a:t>
            </a:r>
          </a:p>
          <a:p/>
          <a:p>
            <a:r>
              <a:t>来源/状态：本课题待检验假说；参考 R2、R4、R6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活冠比例应采用适合比例数据的模型或变换；等级结局可用有序模型；不要把所有结局都机械套正态回归。变量数由独立林分数和事件数约束。相关性强且同处因果链的指标不宜不加判断同时入模。</a:t>
            </a:r>
          </a:p>
          <a:p/>
          <a:p>
            <a:r>
              <a:t>来源/状态：分析方案；验证策略参考 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测当期健康等级并非预测未来衰退。若响应变量由枯梢比例构造，再把同一次枯梢比例作为特征，可得到高准确率但没有预警价值。验证需要所有预处理、变量筛选和阈值选择仅在训练折中进行；同一植株及同林分样本不能随机分散导致泄漏。</a:t>
            </a:r>
          </a:p>
          <a:p/>
          <a:p>
            <a:r>
              <a:t>来源/状态：研究设计建议；参考 R5、R8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更好”优先体现在证据质量，而不是指标和模型的数量。若不能实现跨年复测，就应将论文目标调整为“现状诊断与脆弱性分型”，避免题目写成未来衰退预测。R9是长时序早期信号思路，不应在一次普查中强行使用。</a:t>
            </a:r>
          </a:p>
          <a:p/>
          <a:p>
            <a:r>
              <a:t>来源/状态：工作量建议；R9仅作远期方法背景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这是文献主题层面的归纳，不是本次系统综述的定量合并结果。未统计区域论文篇数、没有做效应量合并，也未复核每篇全文。不能用“共识”替代针对梭梭的当地验证。</a:t>
            </a:r>
          </a:p>
          <a:p/>
          <a:p>
            <a:r>
              <a:t>来源/状态：R1、R2、R4–R8；既有知识整理，待全文复核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不绘制虚构退化率、风险热力图或处理效果。后续图表应包括样本流程图、林分健康分布图、匹配比较或效应图、真实随访转移图和管护分区图。区域总体估计必须有足够代表性和合法地块边界支持。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不建议仅凭土壤含水率低就统一灌溉，或仅凭林龄大就统一砍伐更新。疏密、补植和灌溉均涉及管理审批、生态权衡与成本，不是本稿已验证的技术处方。风险分级是监测与优先级工具，不能替代经营决策。</a:t>
            </a:r>
          </a:p>
          <a:p/>
          <a:p>
            <a:r>
              <a:t>来源/状态：研究设计与管理建议；恢复思路参考 R10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理分配给整个林分时，林分内几十株植物仍不是几十个独立处理重复。少数试验地块的结果应作为试点证据，不能直接推广全走廊。若论文时间不足，可将试验列为下一阶段验证，并将当期建议明确限定为待验证方案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建议数据库：中国知网、万方、Web of Science/Scopus（学校授权）、Crossref和出版者全文。按数据库语法调整检索式；不虚报检索日期和命中篇数。正文中的植物拉丁名、研究区域和人工/天然林属性需要人工复核。</a:t>
            </a:r>
          </a:p>
          <a:p/>
          <a:p>
            <a:r>
              <a:t>来源/状态：可执行检索方案；配套表中提供可复制检索式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配套Excel中把“未报告”“未核实”和“没有”分开填写。全文没有提供样本量不能记作0，检索未命中不能写作不存在。若只读摘要，不填写只有全文才能确认的取样重复和机制证据。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论文正文按“区域与设计—现状评价—影响因素与后续变化—分类管护”组织。政府建议落到地块清单与监测表；学术贡献落到可靠的对照、时间证据和验证。当前仍需补齐河西走廊直接文献，才可以最终确定创新点与论文题名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全部文献主题及适用边界见配套Excel。可以通过DOI定位原文，但本次无法访问DOI或出版者进行核验。不得把这些通用文献写作河西走廊人工梭梭林的直接调查证据。</a:t>
            </a:r>
          </a:p>
          <a:p/>
          <a:p>
            <a:r>
              <a:t>来源/状态：R1–R5；配套Excel含可点击 DOI 链接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R9的临界转变方法要求合适的时间序列；本课题不以两次调查宣称检测临界减速。R10用于恢复潜力思考，不能据它认定当地林分不可逆退化。</a:t>
            </a:r>
          </a:p>
          <a:p/>
          <a:p>
            <a:r>
              <a:t>来源/状态：R6–R10；配套Excel含可点击 DOI 链接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本版不包含虚构调查结果，不声称完成系统综述。用户之前撤回的论文示例及数值未用作核心依据。后续获得PDF/题录或恢复数据库访问后，应优先替换区域直接证据部分，再复核背景参考资料。</a:t>
            </a:r>
          </a:p>
          <a:p/>
          <a:p>
            <a:r>
              <a:t>来源/状态：研究设计建议；非实测结果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126480" y="4389120"/>
            <a:ext cx="8229600" cy="3657600"/>
          </a:xfrm>
          <a:prstGeom prst="ellipse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55080" y="4626864"/>
            <a:ext cx="8229600" cy="3657600"/>
          </a:xfrm>
          <a:prstGeom prst="ellipse">
            <a:avLst/>
          </a:prstGeom>
          <a:solidFill>
            <a:srgbClr val="18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4864608"/>
            <a:ext cx="8229600" cy="3657600"/>
          </a:xfrm>
          <a:prstGeom prst="ellipse">
            <a:avLst/>
          </a:prstGeom>
          <a:solidFill>
            <a:srgbClr val="285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12280" y="5102352"/>
            <a:ext cx="8229600" cy="3657600"/>
          </a:xfrm>
          <a:prstGeom prst="ellipse">
            <a:avLst/>
          </a:prstGeom>
          <a:solidFill>
            <a:srgbClr val="4B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0" y="5340096"/>
            <a:ext cx="8229600" cy="3657600"/>
          </a:xfrm>
          <a:prstGeom prst="ellipse">
            <a:avLst/>
          </a:prstGeom>
          <a:solidFill>
            <a:srgbClr val="798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69480" y="5577840"/>
            <a:ext cx="8229600" cy="3657600"/>
          </a:xfrm>
          <a:prstGeom prst="ellipse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D8B87C"/>
                </a:solidFill>
                <a:latin typeface="Noto Sans CJK SC"/>
              </a:defRPr>
            </a:pPr>
            <a:r>
              <a:t>HEXI CORRIDOR  /  RESEARCH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河西走廊人工梭梭林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保存成效、衰退风险与分类管护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D8B87C"/>
                </a:solidFill>
                <a:latin typeface="Noto Sans CJK SC"/>
              </a:defRPr>
            </a:pPr>
            <a:r>
              <a:t>文献综述与硕士课题设计｜讨论初稿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000" b="0">
                <a:solidFill>
                  <a:srgbClr val="FFFFFF"/>
                </a:solidFill>
                <a:latin typeface="Noto Sans CJK SC"/>
              </a:defRPr>
            </a:pPr>
            <a:r>
              <a:t>武威 · 张掖 · 酒泉（含敦煌）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0">
                <a:solidFill>
                  <a:srgbClr val="FFFFFF"/>
                </a:solidFill>
                <a:latin typeface="Noto Sans CJK SC"/>
              </a:defRPr>
            </a:pPr>
            <a:r>
              <a:t>看清现状 → 解释差异 → 识别风险 → 分类管护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00" b="0">
                <a:solidFill>
                  <a:srgbClr val="D8B87C"/>
                </a:solidFill>
                <a:latin typeface="Noto Sans CJK SC"/>
              </a:defRPr>
            </a:pPr>
            <a:r>
              <a:t>范围说明：区域直接文献待核验；结果页区分背景认识与预期成果。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问题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先把政府问题转成可检验的科学问题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同一套样地，贯通现状、解释、预警与管护。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02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01 保存得怎样？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现存数量是否维持？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活着的植株是否健康？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更新与防护功能是否持续？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02 为什么不同？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在相近林龄和立地下，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水分、盐分、密度及经营史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能解释多少健康差异？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03 哪些会继续衰退？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基线状态与暴露信息，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能否识别随后出现新枯梢、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生长下降或死亡的植株？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04 应该怎么管？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按压力来源与恢复潜力分型，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输出措施、适用条件、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监测指标和优先级。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问题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研究范围：三大片区，敦煌作为酒泉子区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地域不是唯一分层依据；造林历史和立地差异也必须进入设计。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武威片区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民勤等候选地点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造林记录、地块边界和进入条件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均须先向管理单位核实。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张掖片区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临泽、高台等候选地点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先清点可追溯的人工梭梭林，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不预设每种林龄都存在。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酒泉片区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肃州、金塔、瓜州、敦煌等候选地点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敦煌可独立比较，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统计汇总时避免与酒泉重复。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这份综述的证据边界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先明确哪些内容已经能讨论，哪些尚不能下结论。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检索状态说明；详见配套表“检索与核验”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04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证据层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本版状态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可支持的用途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河西走廊人工梭梭林直接证据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尚未完成检索与全文核验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不能判断研究有无、区域覆盖和创新空白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其他地区梭梭及近缘种研究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仅发现待核线索；未纳核心结论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用于后续追踪，不移植定量阈值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其他木本植物衰退机制及方法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10篇背景/方法文献初步整理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构建竞争假说、监测与验证框架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本课题评价与抽样方案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本报告提出；等待踏查与预调查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供导师讨论和方案收敛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文献应分四层读，避免混用证据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每篇都提取：问题—设计—指标—结果—限制—可借鉴点。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综述组织方案；跨物种参考 R1–R10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05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A 区域直接研究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河西走廊 × 人工梭梭林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优先提取保存、衰退、林龄、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水分与经营史。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B 同物种研究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其他干旱区的人工/天然梭梭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人工与天然分开；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梭梭与白梭梭分开。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C 其他植物退化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樟子松、柠条、油蒿、杨树等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重点借鉴对照设计、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时间监测及恢复试验。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D 通用方法研究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健康评价、死亡机制、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层级模型及分组验证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用于提高论证可信度。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其他植物研究：哪些成果最值得借鉴？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将跨物种结论转成可在梭梭上检验的设计。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R1–R7；既有文献主题整理，本次未复核全文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代表文献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做到什么程度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本课题借鉴什么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R1 Allen 2010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R7 Breshears 2005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汇总/观测区域性干旱死亡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关注气候冲击与植被响应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地面死亡标签＋区域气候背景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区分事件冲击与长期变化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R2 McDowell 2008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R6 Choat 2018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形成水力、碳过程及相互作用框架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并列检验水分、盐分和竞争解释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不凭一个指标判机制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R3 Anderegg 2016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R4 Adams 2017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比较跨物种生理差异与死亡机制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部分样地嵌套精测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不套用别的物种致死阈值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R5 Cailleret 2017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综合死亡前生长轨迹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固定植株的重复测量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检验基线指标能否预测后续变化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评价“做到什么程度”，看证据而非模型数量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后续读区域文献时，逐项判断它真正跨过了哪一步。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07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层次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能回答的问题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还不能据此声称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Ⅰ 单次样地描述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现在保存和健康状况如何？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未来会不会死亡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Ⅱ 匹配对照与分层分析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哪些因素与现状差异相关？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已证明因果及唯一机制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Ⅲ 同株随访＋分组验证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哪些基线信息能识别后续变化？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能准确预测任意地区与年份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Ⅳ 管护试验＋前后对照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某措施在何种条件下有效？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已适用于整个河西走廊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你的潜在推进点：把四个环节接起来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优先做一个可信闭环，再考虑扩展机制和遥感。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08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统一口径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相同的保存与健康定义，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支持跨片区、跨林龄比较。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提高可比性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同龄不同地＋同地不同龄，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有独立林分重复；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明确无法拆开的混杂。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加入时间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同株、同季随访，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用新发生衰退验证基线指标。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落实措施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状态 × 压力 × 恢复潜力，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配套分型、监测和试验。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评价体系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先分清：保存、健康、功能与风险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同一林分可能保存比例较高，但活冠下降、更新失败。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09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原来种下的植株，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如今还剩多少？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核心：同批活株＋可靠分母。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健康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现存植株是否持续生长？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核心：活冠、枯梢、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当年生长及状态变化。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是否维持预定防护作用？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核心：覆盖和地表代理，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有条件再测输沙或风速。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未来是否会继续变差？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核心：后续新发结局，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用基线信息独立验证。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评价体系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核心指标：保存数量与个体健康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优先选择可重复、可审查、成本可承受的指标。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10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建议核心指标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关键口径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保存数量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活株密度；同批保存比例（有档案时）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补植和移除分开；原始边界一致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无初植分母时不报“成活率”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冠层健康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活冠比例；枯梢比例；标准照片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依据梭梭同化枝特点建立评分标尺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抽取照片双人盲评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生长活力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固定枝条长度增量；必要时基径增量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同枝位、同季节、同测量方式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多干结构单独记录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状态转变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同株健康等级转移；新增死亡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永久标签＋定位＋影像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先定义失访和机械损伤的处理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评价体系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更新和功能必须有位置，压力指标另列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测了土壤含水率，不等于测了防风固沙成效。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研究设计建议；机制框架参考 R2、R6、R10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11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指标建议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解释边界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更新能力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实生苗/幼株密度与大小级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标记苗的后续存活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萌蘖与实生苗分开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一次萌发≠成功更新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功能代理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林分冠盖度、裸沙比例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地表固定状况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可用于功能相关状态评价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不能直接换算固沙量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功能精测（选做）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配对地表的风速/输沙观测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需控制风况、地形、测高和时段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不可凭单日数据算年效益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压力与背景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分层土壤水分、盐分、林龄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初植密度、经营史及干扰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解释差异或形成假说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不直接纳入健康结局定义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评价体系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分级规则：先有症状标尺，再谈综合评分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当前没有经过本地验证的统一梭梭退化阈值可直接采用。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12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第一步｜预调查定标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建立同化枝和冠层照片库；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定义健康、轻度、明显衰退、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死亡等可观察状态。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第二步｜一致性检查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双人独立评分；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检查等级一致性，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对争议植株现场复核。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第三步｜外部检验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检验分级是否对应随后生长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或健康恶化；若有总分，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比较不同权重的敏感性。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方法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抽样：总体调查与机制精测分开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估计现状比例需要代表性；解释机制需要可比性。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总体样本｜描述现状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先建人工林地块名录；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按区域、立地和林龄分层抽取，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记录抽样概率及无法进入的地块。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匹配子样本｜解释差异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在相近林龄、土壤与经营史下，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比较健康与衰退林分；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补充水分和生理精测。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同株随访｜识别风险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固定植株基线调查，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同季节复测健康和生长；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有年度复测更适合判断持续衰退。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方法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样本量示例：27个林分，54个样方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这是工作量示例，最终以可用林分、预调查变异和失访率调整。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14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层级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示例配置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统计含义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区域 × 林龄层 × 独立林分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3片区 × 3林龄层 × 3林分 = 27林分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林龄层据档案和分布确定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争取各片区均有可比年龄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林分内调查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每林分2个样方，共54样方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按低密林预调查调整面积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样方不替代独立林分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固定植株复测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每样方标记约10株，约540株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需覆盖状态和大小差异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实际事件数决定模型复杂度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精测子集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各片区约3个林分，共约9林分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匹配健康/衰退状态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统一采样季节与时间窗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方法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解释差异：四组竞争假说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把可测因素放在同一个框架中，避免“相关即原因”。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本课题待检验假说；参考 R2、R4、R6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15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H1 水分供需失衡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分层水分与前期降雨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是否解释同立地的生长下降？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有条件测水势验证。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H2 密度与竞争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控制林龄、立地和经营史后，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初植密度/邻域竞争是否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与后续恶化相关？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H3 立地与盐分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土壤质地、盐分和地貌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是否改变水分与健康之间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的关系？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H4 经营与干扰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补水、封育、放牧、采挖、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虫害及补植史，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能否解释剩余差异？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方法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分析路线：从可信描述开始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每一步都对应一个研究问题，不为使用模型而加模型。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分析方案；验证策略参考 R8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优先方法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必须检查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保存与健康现状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分层描述；林分级汇总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置信区间；设计加权（适用时）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缺档案率、失访率、样本覆盖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空间与层级相关性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差异解释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少量预设变量的混合模型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林分/样方层级及匹配比较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共线性、混杂、响应分布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关联解释与因果声明分开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后续变化识别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随访结局的简约回归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有事件时间再考虑生存模型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事件数、删失/失访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时间先后和预测变量泄漏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空间扩展（选做）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地面标签＋遥感指标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按林分/区域分组验证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裸土和物候干扰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适用范围及预测不确定性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方法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风险识别：先定义“未来发生了什么”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若只有一次调查，只能给出当前脆弱性，不能给出已验证未来风险。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研究设计建议；参考 R5、R8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17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结局标签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在明确随访期内：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健康等级恶化、持续生长下降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或新发生死亡；分别报告。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预测信息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只使用基线可获取的信息；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症状、水分、盐分和经营背景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不使用随访期结果作特征。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验证标准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按林分分组划分训练与验证；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报告校准、召回率和误报，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事件少时只做探索分析。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方法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复杂方法的取舍：以硕士工作量为边界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核心任务做到可重复；其余根据问题和条件增加。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工作量建议；R9仅作远期方法背景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18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层级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建议安排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必做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档案核查、独立林分重复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统一健康调查、同株复测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水分/盐分与经营史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直接支撑现状、差异和后续变化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成果可被复核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择一加强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水势/气体交换精测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或一个小规模管护试验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或有标签的遥感扩展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服务一条清楚的科学假说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取决于仪器、时间和事件数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暂不必做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同时上同位素、宏基因组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复杂结构方程和多套机器学习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无长时序的临界转变检测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容易分散工作量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不能替代对照、重复及时间信息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结果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文献主题归纳：哪些认识可以作为出发点？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以下为跨物种背景认识；尚未在本课题梭梭样地中得到验证。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R1、R2、R4–R8；既有知识整理，待全文复核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19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背景认识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参考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能支持什么 / 不能支持什么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干旱死亡需要区域与时间背景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R1、R7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支持记录气候与健康变化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不支持本地死亡比例估计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水力、碳过程及生物因素可能交互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R2、R4、R6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支持多假说与嵌套精测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不支持单指标判定机制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死亡前生长轨迹可能提供信息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R5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支持同株重复监测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不支持直接套用梭梭预警阈值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验证必须符合空间与层级结构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R8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支持按林分/区域分组验证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不保证小样本模型可稳定外推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结果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课题最终应交付四类结果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这是预期成果结构；目前没有本地实测数据或结果图。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20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现状清单与图表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各分层的活株密度、健康分布、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更新及功能代理；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同时标明抽样覆盖和不确定性。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267712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2267712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50592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差异解释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07791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主要关联因素及效应区间；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不同立地/林龄的差异，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以及无法拆开的混杂。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风险或脆弱性分型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有随访：验证未来恶化识别；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无随访：仅报告脆弱性，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说明适用范围。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160520"/>
            <a:ext cx="5394960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160520"/>
            <a:ext cx="50292" cy="17190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43400"/>
            <a:ext cx="49743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政府管护清单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80060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具体地块、问题类型、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措施条件、优先级、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650" b="0">
                <a:solidFill>
                  <a:srgbClr val="183C36"/>
                </a:solidFill>
                <a:latin typeface="Noto Sans CJK SC"/>
              </a:defRPr>
            </a:pPr>
            <a:r>
              <a:t>监测要求与试验建议。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结果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分类管护：从问题类型到有条件的措施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以下是管理决策框架，措施成效仍需当地试验和复测。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研究设计与管理建议；恢复思路参考 R10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21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181508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240280"/>
            <a:ext cx="27752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350008"/>
            <a:ext cx="2569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识别依据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9" y="2240280"/>
            <a:ext cx="318668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7" y="2350008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优先行动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240280"/>
            <a:ext cx="316839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7" y="2350008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验证要求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706624"/>
            <a:ext cx="181508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816352"/>
            <a:ext cx="16093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183C36"/>
                </a:solidFill>
                <a:latin typeface="Noto Sans CJK SC"/>
              </a:defRPr>
            </a:pPr>
            <a:r>
              <a:t>相对稳定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706624"/>
            <a:ext cx="2775203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2888" y="2816352"/>
            <a:ext cx="2569463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健康维持且更新可持续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2706624"/>
            <a:ext cx="318668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7" y="2816352"/>
            <a:ext cx="29809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保护＋常规巡查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706624"/>
            <a:ext cx="316839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816352"/>
            <a:ext cx="2962656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同季复测，关注干旱年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381451"/>
            <a:ext cx="1815084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491179"/>
            <a:ext cx="16093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183C36"/>
                </a:solidFill>
                <a:latin typeface="Noto Sans CJK SC"/>
              </a:defRPr>
            </a:pPr>
            <a:r>
              <a:t>健康但暴露较高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3381451"/>
            <a:ext cx="2775203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32888" y="3491179"/>
            <a:ext cx="2569463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当前活力尚可；水分/盐分压力升高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9" y="3381451"/>
            <a:ext cx="3186684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1807" y="3491179"/>
            <a:ext cx="29809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加密监测；减少新增干扰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381451"/>
            <a:ext cx="3168396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7" y="3491179"/>
            <a:ext cx="2962656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不能等同已验证高死亡概率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056278"/>
            <a:ext cx="181508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166006"/>
            <a:ext cx="16093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183C36"/>
                </a:solidFill>
                <a:latin typeface="Noto Sans CJK SC"/>
              </a:defRPr>
            </a:pPr>
            <a:r>
              <a:t>竞争相关衰退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4056278"/>
            <a:ext cx="2775203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32888" y="4166006"/>
            <a:ext cx="2569463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可比样地支持竞争解释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79" y="4056278"/>
            <a:ext cx="318668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7" y="4166006"/>
            <a:ext cx="29809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小规模疏密对照试验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4056278"/>
            <a:ext cx="316839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7" y="4166006"/>
            <a:ext cx="2962656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同步看水分、健康和裸沙风险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4731105"/>
            <a:ext cx="1815084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4840833"/>
            <a:ext cx="16093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183C36"/>
                </a:solidFill>
                <a:latin typeface="Noto Sans CJK SC"/>
              </a:defRPr>
            </a:pPr>
            <a:r>
              <a:t>立地/干扰相关衰退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3160" y="4731105"/>
            <a:ext cx="2775203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32888" y="4840833"/>
            <a:ext cx="2569463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盐分、风蚀或经营记录有证据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79" y="4731105"/>
            <a:ext cx="3186684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21807" y="4840833"/>
            <a:ext cx="29809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治理对应压力；有条件封育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4731105"/>
            <a:ext cx="3168396" cy="658368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7" y="4840833"/>
            <a:ext cx="2962656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前后对照；兼顾地表稳定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405932"/>
            <a:ext cx="181508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" y="5515660"/>
            <a:ext cx="16093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1">
                <a:solidFill>
                  <a:srgbClr val="183C36"/>
                </a:solidFill>
                <a:latin typeface="Noto Sans CJK SC"/>
              </a:defRPr>
            </a:pPr>
            <a:r>
              <a:t>更新受限或重度衰退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23160" y="5405932"/>
            <a:ext cx="2775203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2888" y="5515660"/>
            <a:ext cx="2569463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幼苗难维持、活力低且功能下降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79" y="5405932"/>
            <a:ext cx="3186684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21807" y="5515660"/>
            <a:ext cx="2980944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先查水资源与立地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再决定补植或结构调整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5405932"/>
            <a:ext cx="3168396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2207" y="5515660"/>
            <a:ext cx="2962656" cy="501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183C36"/>
                </a:solidFill>
                <a:latin typeface="Noto Sans CJK SC"/>
              </a:defRPr>
            </a:pPr>
            <a:r>
              <a:t>避免盲目高密补植；分阶段试验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结果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如果要证明措施有效，至少保留一个对照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一个小而规范的试验，比没有对照的大规模建议更有说服力。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22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选择证据支持的一种措施；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设处理与对照，尽量随机分配；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实施前先测基线。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观测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同步复测健康、生长与水分；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若疏密或地表操作，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加测裸沙/风蚀风险。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比较处理与对照的变化差异；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统计单位对应处理分配单位；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报告区间、成本和副作用。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文献检索：接下来需要补齐的直接证据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不只检索“退化”；“保存率、生长衰退、死亡、土壤干化”也要覆盖。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可执行检索方案；配套表中提供可复制检索式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23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20894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检索层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2240280"/>
            <a:ext cx="382676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中文关键词组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40280"/>
            <a:ext cx="504291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5000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英文关键词组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区域与物种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79" y="2706624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2816352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河西走廊/民勤/武威/张掖/临泽/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高台/酒泉/金塔/瓜州/敦煌＋梭梭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706624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16352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Haloxylon ammodendron +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Hexi / Minqin / Zhangye 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183C36"/>
                </a:solidFill>
                <a:latin typeface="Noto Sans CJK SC"/>
              </a:defRPr>
            </a:pPr>
            <a:r>
              <a:t>Jiuquan / Dunhuang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11296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621024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人工林与现状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79" y="3511296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3621024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人工林/造林/保存率/存活/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死亡/枯梢/衰退/退化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511296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3621024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plantation / afforestation 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survival / mortality / decline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315968"/>
            <a:ext cx="2089403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425696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解释与管理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79" y="4315968"/>
            <a:ext cx="3826764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7208" y="4425696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林龄/密度/土壤水分/干化/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盐分/地下水/抚育/疏伐/更新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315968"/>
            <a:ext cx="5042916" cy="788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425696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stand age / density / soil water 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salinity / thinning / regeneration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120640"/>
            <a:ext cx="2089403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230368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1">
                <a:solidFill>
                  <a:srgbClr val="183C36"/>
                </a:solidFill>
                <a:latin typeface="Noto Sans CJK SC"/>
              </a:defRPr>
            </a:pPr>
            <a:r>
              <a:t>其他植物借鉴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79" y="5120640"/>
            <a:ext cx="3826764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5230368"/>
            <a:ext cx="362102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樟子松/柠条/油蒿/杨树＋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衰退/死亡/预警/复壮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120640"/>
            <a:ext cx="5042916" cy="78821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5230368"/>
            <a:ext cx="4837176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dieback / drought mortality /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183C36"/>
                </a:solidFill>
                <a:latin typeface="Noto Sans CJK SC"/>
              </a:defRPr>
            </a:pPr>
            <a:r>
              <a:t>vitality / restoration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思路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每读一篇，就回答这九个问题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这张表决定能否判断“别人做到哪一步、我们补什么”。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24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研究设计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① 在哪里、什么林？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② 林龄和造林记录可靠吗？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③ 有多少独立林分和时间点？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评价与结果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④ 退化如何定义和测量？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⑤ 实际结果是什么、误差多大？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⑥ 有无时间顺序及混杂控制？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借鉴与推进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⑦ 有没有独立验证？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⑧ 措施有效性是否有对照？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⑨ 本课题具体补哪一环？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结论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硕士论文的主线：评价—解释—验证—建议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建议先收敛到一条能按时完成、可被复核的证据链。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25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论文题目建议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河西走廊人工梭梭林保存成效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及衰退风险的分层评价与分类管护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（有随访时使用“风险”）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资源不足时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人工梭梭林健康状况、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关联因素及脆弱性分型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（单次调查的稳妥定位）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真正要守住的底线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代表性＋独立林分重复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指标与结局分开＋真实时间标签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结论范围与证据匹配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参考文献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背景与方法文献 01—05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书目信息依据已有知识整理；本次网络限制，未复核出版者记录与全文。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R1–R5；配套Excel含可点击 DOI 链接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18608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编号 / 作者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2240280"/>
            <a:ext cx="560984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350008"/>
            <a:ext cx="5404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题名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240280"/>
            <a:ext cx="348843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7" y="2350008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期刊与 DOI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1860803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R1 / Allen, C. D., et al. 2010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79" y="2706624"/>
            <a:ext cx="5609844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2816352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A global overview of drought and heat-induced tree mortality reveals emerging climate change risks for forests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706624"/>
            <a:ext cx="3488436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816352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Forest Ecology and Management, 259, 660–684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10.1016/j.foreco.2009.09.001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74136"/>
            <a:ext cx="1860803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483864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R2 / McDowell, N., et al. 2008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79" y="3374136"/>
            <a:ext cx="5609844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8608" y="3483864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Mechanisms of plant survival and mortality during drought: why do some plants survive while others succumb to drought?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374136"/>
            <a:ext cx="3488436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7" y="3483864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New Phytologist, 178, 719–739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10.1111/j.1469-8137.2008.02436.x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041648"/>
            <a:ext cx="1860803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51376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R3 / Anderegg, W. R. L., et al. 2016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79" y="4041648"/>
            <a:ext cx="5609844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4151376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Meta-analysis reveals that hydraulic traits explain cross-species patterns of drought-induced tree mortality across the globe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041648"/>
            <a:ext cx="3488436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7" y="4151376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69" b="0">
                <a:solidFill>
                  <a:srgbClr val="183C36"/>
                </a:solidFill>
                <a:latin typeface="Noto Sans CJK SC"/>
              </a:defRPr>
            </a:pPr>
            <a:r>
              <a:t>Proceedings of the National Academy of Sciences, 113, 5024–5029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69" b="0">
                <a:solidFill>
                  <a:srgbClr val="183C36"/>
                </a:solidFill>
                <a:latin typeface="Noto Sans CJK SC"/>
              </a:defRPr>
            </a:pPr>
            <a:r>
              <a:t>10.1073/pnas.1525678113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709160"/>
            <a:ext cx="1860803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818888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R4 / Adams, H. D., et al. 2017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79" y="4709160"/>
            <a:ext cx="5609844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8608" y="4818888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A multi-species synthesis of physiological mechanisms in drought-induced tree mortality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4709160"/>
            <a:ext cx="3488436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4818888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Nature Ecology &amp; Evolution, 1, 1285–1291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10.1038/s41559-017-0248-x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376672"/>
            <a:ext cx="1860803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486400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R5 / Cailleret, M., et al. 2017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79" y="5376672"/>
            <a:ext cx="5609844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78608" y="5486400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A synthesis of radial growth patterns preceding tree mortality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5376672"/>
            <a:ext cx="3488436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7" y="5486400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Global Change Biology, 23, 1675–1690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10.1111/gcb.13535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参考文献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背景与方法文献 06—10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它们用于构建方法框架，不能替代河西走廊的物种与区域证据。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R6–R10；配套Excel含可点击 DOI 链接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27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1860803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50008"/>
            <a:ext cx="1655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编号 / 作者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2240280"/>
            <a:ext cx="5609844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350008"/>
            <a:ext cx="5404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题名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240280"/>
            <a:ext cx="3488436" cy="466344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7" y="2350008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期刊与 DOI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06624"/>
            <a:ext cx="1860803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816352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R6 / Choat, B., et al. 2018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79" y="2706624"/>
            <a:ext cx="5609844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2816352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Triggers of tree mortality under drought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706624"/>
            <a:ext cx="3488436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2816352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Nature, 558, 531–539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10.1038/s41586-018-0240-x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74136"/>
            <a:ext cx="1860803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483864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R7 / Breshears, D. D., et al. 2005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79" y="3374136"/>
            <a:ext cx="5609844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8608" y="3483864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Regional vegetation die-off in response to global-change-type drought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3374136"/>
            <a:ext cx="3488436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7" y="3483864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69" b="0">
                <a:solidFill>
                  <a:srgbClr val="183C36"/>
                </a:solidFill>
                <a:latin typeface="Noto Sans CJK SC"/>
              </a:defRPr>
            </a:pPr>
            <a:r>
              <a:t>Proceedings of the National Academy of Sciences, 102, 15144–15148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969" b="0">
                <a:solidFill>
                  <a:srgbClr val="183C36"/>
                </a:solidFill>
                <a:latin typeface="Noto Sans CJK SC"/>
              </a:defRPr>
            </a:pPr>
            <a:r>
              <a:t>10.1073/pnas.0505734102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041648"/>
            <a:ext cx="1860803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51376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R8 / Roberts, D. R., et al. 2017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79" y="4041648"/>
            <a:ext cx="5609844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608" y="4151376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Cross-validation strategies for data with temporal, spatial, hierarchical, or phylogenetic structure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041648"/>
            <a:ext cx="3488436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7" y="4151376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Ecography, 40, 913–929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10.1111/ecog.02881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709160"/>
            <a:ext cx="1860803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818888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R9 / Scheffer, M., et al. 2009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79" y="4709160"/>
            <a:ext cx="5609844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8608" y="4818888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Early-warning signals for critical transitions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4709160"/>
            <a:ext cx="3488436" cy="651052"/>
          </a:xfrm>
          <a:prstGeom prst="rect">
            <a:avLst/>
          </a:prstGeom>
          <a:solidFill>
            <a:srgbClr val="E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4818888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Nature, 461, 53–59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10.1038/nature08227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376672"/>
            <a:ext cx="1860803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486400"/>
            <a:ext cx="165506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1">
                <a:solidFill>
                  <a:srgbClr val="183C36"/>
                </a:solidFill>
                <a:latin typeface="Noto Sans CJK SC"/>
              </a:defRPr>
            </a:pPr>
            <a:r>
              <a:t>R10 / Suding, K. N., Gross, K. L., &amp; Houseman, G. R. 2004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79" y="5376672"/>
            <a:ext cx="5609844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78608" y="5486400"/>
            <a:ext cx="540410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Alternative states and positive feedbacks in restoration ecology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5376672"/>
            <a:ext cx="3488436" cy="651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7" y="5486400"/>
            <a:ext cx="328269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Trends in Ecology &amp; Evolution, 19, 46–53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019" b="0">
                <a:solidFill>
                  <a:srgbClr val="183C36"/>
                </a:solidFill>
                <a:latin typeface="Noto Sans CJK SC"/>
              </a:defRPr>
            </a:pPr>
            <a:r>
              <a:t>10.1016/j.tree.2003.10.005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56616"/>
            <a:ext cx="73152" cy="274320"/>
          </a:xfrm>
          <a:prstGeom prst="rect">
            <a:avLst/>
          </a:prstGeom>
          <a:solidFill>
            <a:srgbClr val="2D6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000" b="1">
                <a:solidFill>
                  <a:srgbClr val="2D6956"/>
                </a:solidFill>
                <a:latin typeface="Noto Sans CJK SC"/>
              </a:defRPr>
            </a:pPr>
            <a:r>
              <a:t>附录  /  HALOXYLON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10002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700" b="1">
                <a:solidFill>
                  <a:srgbClr val="183C36"/>
                </a:solidFill>
                <a:latin typeface="Noto Sans CJK SC"/>
              </a:defRPr>
            </a:pPr>
            <a:r>
              <a:t>本版已交付什么，还差什么？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18488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400" b="0">
                <a:solidFill>
                  <a:srgbClr val="62736D"/>
                </a:solidFill>
                <a:latin typeface="Noto Sans CJK SC"/>
              </a:defRPr>
            </a:pPr>
            <a:r>
              <a:t>用于选题与导师讨论的框架稿；区域专门文献综述尚未完成。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45936"/>
            <a:ext cx="11000232" cy="1097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800" b="0">
                <a:solidFill>
                  <a:srgbClr val="62736D"/>
                </a:solidFill>
                <a:latin typeface="Noto Sans CJK SC"/>
              </a:defRPr>
            </a:pPr>
            <a:r>
              <a:t>研究设计建议；非实测结果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37376"/>
            <a:ext cx="594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900" b="1">
                <a:solidFill>
                  <a:srgbClr val="2D6956"/>
                </a:solidFill>
                <a:latin typeface="Noto Sans CJK SC"/>
              </a:defRPr>
            </a:pPr>
            <a:r>
              <a:t>28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已交付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可编辑PPT＋演讲备注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背景/方法文献对照表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指标表、抽样示例与检索式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3232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376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仍需补齐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2376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河西走廊直接文献题录与全文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逐篇核验样本、方法和真实结果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据此修订创新点与阈值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9767" y="2286000"/>
            <a:ext cx="3544824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0936" y="2560320"/>
            <a:ext cx="402336" cy="50292"/>
          </a:xfrm>
          <a:prstGeom prst="rect">
            <a:avLst/>
          </a:prstGeom>
          <a:solidFill>
            <a:srgbClr val="D8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871216"/>
            <a:ext cx="3124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900" b="1">
                <a:solidFill>
                  <a:srgbClr val="2D6956"/>
                </a:solidFill>
                <a:latin typeface="Noto Sans CJK SC"/>
              </a:defRPr>
            </a:pPr>
            <a:r>
              <a:t>下一次收敛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712464"/>
            <a:ext cx="312420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结合造林档案和踏查可行性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确定代表区域、随访周期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 b="0">
                <a:solidFill>
                  <a:srgbClr val="183C36"/>
                </a:solidFill>
                <a:latin typeface="Noto Sans CJK SC"/>
              </a:defRPr>
            </a:pPr>
            <a:r>
              <a:t>以及一个最值得加强的方法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河西走廊人工梭梭林保存成效、衰退风险与分类管护</dc:title>
  <dc:subject>文献主题梳理与硕士课题设计；区域证据待核验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